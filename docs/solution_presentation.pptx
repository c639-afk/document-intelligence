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92D46"/>
                </a:solidFill>
              </a:defRPr>
            </a:pPr>
            <a:r>
              <a:t>Intelligent Document Extraction,</a:t>
            </a:r>
            <a:br/>
            <a:r>
              <a:t>Validation &amp; API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743200"/>
            <a:ext cx="104241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75F87"/>
                </a:solidFill>
              </a:defRPr>
            </a:pPr>
            <a:r>
              <a:t>AI Engineer Internship – Technical Case Study</a:t>
            </a:r>
          </a:p>
          <a:p>
            <a:pPr>
              <a:spcBef>
                <a:spcPts val="1200"/>
              </a:spcBef>
              <a:defRPr sz="1800">
                <a:solidFill>
                  <a:srgbClr val="23282D"/>
                </a:solidFill>
              </a:defRPr>
            </a:pPr>
            <a:r>
              <a:t>End-to-end financial document intelligence using OCR + Gemini + deterministic financial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5F87"/>
                </a:solidFill>
              </a:defRPr>
            </a:pPr>
            <a:r>
              <a:t>Document Intelligence Platform  •  AI Engineer Internship Case Study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73152"/>
            <a:ext cx="9235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972800" cy="5074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3282D"/>
                </a:solidFill>
              </a:defRPr>
            </a:pPr>
            <a:r>
              <a:t>Financial-services teams receive invoices and financial statements in native or scanned PDF / JPG / PNG formats.</a:t>
            </a:r>
          </a:p>
          <a:p>
            <a:pPr>
              <a:spcAft>
                <a:spcPts val="800"/>
              </a:spcAft>
              <a:defRPr sz="2000" b="0">
                <a:solidFill>
                  <a:srgbClr val="23282D"/>
                </a:solidFill>
              </a:defRPr>
            </a:pPr>
            <a:r>
              <a:t>Different layouts, image quality and OCR errors make manual extraction slow and inconsistent.</a:t>
            </a:r>
          </a:p>
          <a:p>
            <a:pPr>
              <a:spcAft>
                <a:spcPts val="800"/>
              </a:spcAft>
              <a:defRPr sz="2000" b="0">
                <a:solidFill>
                  <a:srgbClr val="23282D"/>
                </a:solidFill>
              </a:defRPr>
            </a:pPr>
            <a:r>
              <a:t>The required solution is a reusable Document Intelligence service that extracts complete visible information, validates key financial relationships, stores results and exposes them through a dashboard and REST APIs.</a:t>
            </a:r>
          </a:p>
          <a:p>
            <a:pPr>
              <a:spcAft>
                <a:spcPts val="800"/>
              </a:spcAft>
              <a:defRPr sz="2000" b="0">
                <a:solidFill>
                  <a:srgbClr val="23282D"/>
                </a:solidFill>
              </a:defRPr>
            </a:pPr>
            <a:r>
              <a:t>Target flow: Upload → Validate → Text Extraction/OCR → AI Extraction → Structured JSON → Financial Validation → Evidence → Persistence → PASS/FAILED → Dashboard + API.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5F87"/>
                </a:solidFill>
              </a:defRPr>
            </a:pPr>
            <a:r>
              <a:t>Document Intelligence Platform  •  AI Engineer Internship Case Study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SECTION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73152"/>
            <a:ext cx="9235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Documents in Scope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5349240" cy="5166360"/>
          </a:xfrm>
          <a:prstGeom prst="roundRect">
            <a:avLst/>
          </a:prstGeom>
          <a:solidFill>
            <a:srgbClr val="F0F4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92D46"/>
                </a:solidFill>
              </a:defRPr>
            </a:pPr>
            <a:r>
              <a:t>Four supported document 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55648"/>
            <a:ext cx="489204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Invoice — visible fields, line items and tables.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Balance Sheet — headers, periods, currency and every visible financial line item.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Profit &amp; Loss — income/expense line items, comparative periods and totals.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Cash Flow Statement — operating, investing, financing, FX/translation and cash reconciliation.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51560"/>
            <a:ext cx="5349240" cy="5166360"/>
          </a:xfrm>
          <a:prstGeom prst="roundRect">
            <a:avLst/>
          </a:prstGeom>
          <a:solidFill>
            <a:srgbClr val="F0F4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92D46"/>
                </a:solidFill>
              </a:defRPr>
            </a:pPr>
            <a:r>
              <a:t>Input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755648"/>
            <a:ext cx="489204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Document type is selected by the frontend and sent as request metadata.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Automated document schema classification is not required.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Extraction completeness and validation are the focus.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Common structured JSON schema is used across requests.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5F87"/>
                </a:solidFill>
              </a:defRPr>
            </a:pPr>
            <a:r>
              <a:t>Document Intelligence Platform  •  AI Engineer Internship Case Study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SECTION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73152"/>
            <a:ext cx="9235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Input Requirements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5349240" cy="5166360"/>
          </a:xfrm>
          <a:prstGeom prst="roundRect">
            <a:avLst/>
          </a:prstGeom>
          <a:solidFill>
            <a:srgbClr val="F0F4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92D46"/>
                </a:solidFill>
              </a:defRPr>
            </a:pPr>
            <a:r>
              <a:t>Accepted inputs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55648"/>
            <a:ext cx="489204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PDF / JPG / JPEG / PNG only.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Native PDFs and scanned/image-based documents.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Maximum 3 pages.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File type, empty/corrupt state, page count and basic integrity validated before extraction.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51560"/>
            <a:ext cx="5349240" cy="5166360"/>
          </a:xfrm>
          <a:prstGeom prst="roundRect">
            <a:avLst/>
          </a:prstGeom>
          <a:solidFill>
            <a:srgbClr val="F0F4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92D46"/>
                </a:solidFill>
              </a:defRPr>
            </a:pPr>
            <a:r>
              <a:t>Implemented 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755648"/>
            <a:ext cx="489204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Unsupported formats are rejected.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Native PDF text is attempted first.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Scanned PDFs fall back to OCR.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Images are processed with Tesseract OCR.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Readable/support status and page count are included in the result.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5F87"/>
                </a:solidFill>
              </a:defRPr>
            </a:pPr>
            <a:r>
              <a:t>Document Intelligence Platform  •  AI Engineer Internship Case Study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SECTION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73152"/>
            <a:ext cx="9235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Mandatory Functional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972800" cy="5074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3282D"/>
                </a:solidFill>
              </a:defRPr>
            </a:pPr>
            <a:r>
              <a:t>4.1 Document Validation — validate before OCR/AI; graceful errors for unsupported, empty, corrupt or &gt;3-page files.</a:t>
            </a:r>
          </a:p>
          <a:p>
            <a:pPr>
              <a:spcAft>
                <a:spcPts val="800"/>
              </a:spcAft>
              <a:defRPr sz="2000" b="0">
                <a:solidFill>
                  <a:srgbClr val="23282D"/>
                </a:solidFill>
              </a:defRPr>
            </a:pPr>
            <a:r>
              <a:t>4.2 Complete Field &amp; Table Extraction — extract ALL meaningful visible information, including headers, dates, parties, totals, line items, tables and comparative values.</a:t>
            </a:r>
          </a:p>
          <a:p>
            <a:pPr>
              <a:spcAft>
                <a:spcPts val="800"/>
              </a:spcAft>
              <a:defRPr sz="2000" b="0">
                <a:solidFill>
                  <a:srgbClr val="23282D"/>
                </a:solidFill>
              </a:defRPr>
            </a:pPr>
            <a:r>
              <a:t>4.3 Evidence / Grounding — provide supporting source text where practical and page numbers where available; confidence is optional.</a:t>
            </a:r>
          </a:p>
          <a:p>
            <a:pPr>
              <a:spcAft>
                <a:spcPts val="800"/>
              </a:spcAft>
              <a:defRPr sz="2000" b="0">
                <a:solidFill>
                  <a:srgbClr val="23282D"/>
                </a:solidFill>
              </a:defRPr>
            </a:pPr>
            <a:r>
              <a:t>4.4 Validation — deterministic financial relationship checks using the actual extracted source fields.</a:t>
            </a:r>
          </a:p>
          <a:p>
            <a:pPr>
              <a:spcAft>
                <a:spcPts val="800"/>
              </a:spcAft>
              <a:defRPr sz="2000" b="0">
                <a:solidFill>
                  <a:srgbClr val="23282D"/>
                </a:solidFill>
              </a:defRPr>
            </a:pPr>
            <a:r>
              <a:t>4.5 Processing Status — PASS when required extraction and validations succeed; FAILED when the document cannot be processed.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5F87"/>
                </a:solidFill>
              </a:defRPr>
            </a:pPr>
            <a:r>
              <a:t>Document Intelligence Platform  •  AI Engineer Internship Case Study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SECTION 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73152"/>
            <a:ext cx="9235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Document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5349240" cy="5166360"/>
          </a:xfrm>
          <a:prstGeom prst="roundRect">
            <a:avLst/>
          </a:prstGeom>
          <a:solidFill>
            <a:srgbClr val="F0F4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92D46"/>
                </a:solidFill>
              </a:defRPr>
            </a:pPr>
            <a:r>
              <a:t>Validation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55648"/>
            <a:ext cx="489204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Supported types: PDF, JPG/JPEG, PNG.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Readable document required.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Maximum 3 pages.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Empty/corrupt files fail before OCR or AI extraction.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Validation is input control, not document classification.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51560"/>
            <a:ext cx="5349240" cy="5166360"/>
          </a:xfrm>
          <a:prstGeom prst="roundRect">
            <a:avLst/>
          </a:prstGeom>
          <a:solidFill>
            <a:srgbClr val="F0F4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92D46"/>
                </a:solidFill>
              </a:defRPr>
            </a:pPr>
            <a:r>
              <a:t>Structured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755648"/>
            <a:ext cx="489204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file_type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is_supported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is_readable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page_count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status: PASS / controlled failure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Clear HTTP error response for invalid input.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5F87"/>
                </a:solidFill>
              </a:defRPr>
            </a:pPr>
            <a:r>
              <a:t>Document Intelligence Platform  •  AI Engineer Internship Case Study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SECTION 4.2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73152"/>
            <a:ext cx="9235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Complete Field &amp; Table Extraction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972800" cy="5074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3282D"/>
                </a:solidFill>
              </a:defRPr>
            </a:pPr>
            <a:r>
              <a:t>Gemini receives the original document multimodally together with supporting OCR/native text context.</a:t>
            </a:r>
          </a:p>
          <a:p>
            <a:pPr>
              <a:spcAft>
                <a:spcPts val="800"/>
              </a:spcAft>
              <a:defRPr sz="1900" b="0">
                <a:solidFill>
                  <a:srgbClr val="23282D"/>
                </a:solidFill>
              </a:defRPr>
            </a:pPr>
            <a:r>
              <a:t>Prompt requires ALL meaningful visible fields, values, line items, tables and comparative periods.</a:t>
            </a:r>
          </a:p>
          <a:p>
            <a:pPr>
              <a:spcAft>
                <a:spcPts val="800"/>
              </a:spcAft>
              <a:defRPr sz="1900" b="0">
                <a:solidFill>
                  <a:srgbClr val="23282D"/>
                </a:solidFill>
              </a:defRPr>
            </a:pPr>
            <a:r>
              <a:t>Missing information is returned as null; unsupported inference is prohibited.</a:t>
            </a:r>
          </a:p>
          <a:p>
            <a:pPr>
              <a:spcAft>
                <a:spcPts val="800"/>
              </a:spcAft>
              <a:defRPr sz="1900" b="0">
                <a:solidFill>
                  <a:srgbClr val="23282D"/>
                </a:solidFill>
              </a:defRPr>
            </a:pPr>
            <a:r>
              <a:t>Current common Pydantic schema: ExtractionResponse → fields, line_items, tables.</a:t>
            </a:r>
          </a:p>
          <a:p>
            <a:pPr>
              <a:spcAft>
                <a:spcPts val="800"/>
              </a:spcAft>
              <a:defRPr sz="1900" b="0">
                <a:solidFill>
                  <a:srgbClr val="23282D"/>
                </a:solidFill>
              </a:defRPr>
            </a:pPr>
            <a:r>
              <a:t>Tables use structured rows and period/value objects; invoice line items preserve quantity, unit price, amount, tax rate and additional fields.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5F87"/>
                </a:solidFill>
              </a:defRPr>
            </a:pPr>
            <a:r>
              <a:t>Document Intelligence Platform  •  AI Engineer Internship Case Study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SECTION 4.3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73152"/>
            <a:ext cx="9235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Evidence / Grounding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5349240" cy="5166360"/>
          </a:xfrm>
          <a:prstGeom prst="roundRect">
            <a:avLst/>
          </a:prstGeom>
          <a:solidFill>
            <a:srgbClr val="F0F4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92D46"/>
                </a:solidFill>
              </a:defRPr>
            </a:pPr>
            <a:r>
              <a:t>What is returned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55648"/>
            <a:ext cx="489204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Each extracted field can include evidence text.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Page number is included where available.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Invoice line items and table rows also carry evidence/page context.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Confidence scoring is optional and is not implemented in the current common schema.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51560"/>
            <a:ext cx="5349240" cy="5166360"/>
          </a:xfrm>
          <a:prstGeom prst="roundRect">
            <a:avLst/>
          </a:prstGeom>
          <a:solidFill>
            <a:srgbClr val="F0F4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92D46"/>
                </a:solidFill>
              </a:defRPr>
            </a:pPr>
            <a:r>
              <a:t>Why it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755648"/>
            <a:ext cx="489204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Allows important extracted values to be traced to the source.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Reduces ambiguity during evaluation.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Supports debugging of OCR/AI extraction.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Preserves source context without asking the model to invent missing data.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5F87"/>
                </a:solidFill>
              </a:defRPr>
            </a:pPr>
            <a:r>
              <a:t>Document Intelligence Platform  •  AI Engineer Internship Case Study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SECTION 4.4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73152"/>
            <a:ext cx="9235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Financial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972800" cy="5074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Tolerance: Decimal arithmetic with 0.01 tolerance.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Invoice: quantity × unit price ≈ line total; line totals ≈ subtotal; subtotal + tax − discount ≈ total; tax-rate check when a single consistent rate is available.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Balance Sheet: total assets ≈ capital + reserves/surplus + minority interest + deposits + borrowings + other liabilities/provisions; checked independently for each period.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P&amp;L: income, expenditure, profit-before-minority and attributable-profit reconciliations; comparative periods are checked independently.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Cash Flow: operating + investing + financing + FX/translation + applicable adjustments ≈ net increase; opening cash + net increase + adjustments ≈ closing cash; parentheses are treated as negative.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Unavailable required inputs produce NOT_APPLICABLE rather than invented values.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5F87"/>
                </a:solidFill>
              </a:defRPr>
            </a:pPr>
            <a:r>
              <a:t>Document Intelligence Platform  •  AI Engineer Internship Case Study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SECTION 4.5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73152"/>
            <a:ext cx="9235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Processing Status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5349240" cy="5166360"/>
          </a:xfrm>
          <a:prstGeom prst="roundRect">
            <a:avLst/>
          </a:prstGeom>
          <a:solidFill>
            <a:srgbClr val="F0F4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92D46"/>
                </a:solidFill>
              </a:defRPr>
            </a:pPr>
            <a:r>
              <a:t>PASS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55648"/>
            <a:ext cx="489204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Required fields are extracted accurately.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Required financial validations pass.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Validation checks are returned in structured JSON.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Processed result is persisted and appears in the dashboard.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51560"/>
            <a:ext cx="5349240" cy="5166360"/>
          </a:xfrm>
          <a:prstGeom prst="roundRect">
            <a:avLst/>
          </a:prstGeom>
          <a:solidFill>
            <a:srgbClr val="F0F4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92D46"/>
                </a:solidFill>
              </a:defRPr>
            </a:pPr>
            <a:r>
              <a:t>FAILED / controlled errors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755648"/>
            <a:ext cx="489204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Invalid, corrupted or unsupported document.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Unable to process the document.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Downstream model/API failure.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Structured error response is returned without exposing stack traces or secrets.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5F87"/>
                </a:solidFill>
              </a:defRPr>
            </a:pPr>
            <a:r>
              <a:t>Document Intelligence Platform  •  AI Engineer Internship Case Study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SECTION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73152"/>
            <a:ext cx="9235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Mandatory REST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10972800" cy="4389120"/>
          </a:xfrm>
          <a:prstGeom prst="roundRect">
            <a:avLst/>
          </a:prstGeom>
          <a:solidFill>
            <a:srgbClr val="F7F7F7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353312"/>
            <a:ext cx="1057046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82D"/>
                </a:solidFill>
                <a:latin typeface="Courier New"/>
              </a:defRPr>
            </a:pPr>
            <a:r>
              <a:t>POST  /api/v1/documents/process       Upload + process PDF/JPG/PNG</a:t>
            </a:r>
            <a:br/>
            <a:r>
              <a:t>GET   /api/v1/documents/{document_name}  Retrieve latest stored result</a:t>
            </a:r>
            <a:br/>
            <a:r>
              <a:t>GET   /api/v1/documents                  List processed documents for dashboard</a:t>
            </a:r>
            <a:br/>
            <a:r>
              <a:t>GET   /api/v1/health                     Service health check</a:t>
            </a:r>
            <a:br/>
            <a:r>
              <a:t>GET   /docs                              Swagger / OpenAPI documentation</a:t>
            </a:r>
            <a:br/>
            <a:br/>
            <a:r>
              <a:t>POST request: multipart/form-data</a:t>
            </a:r>
            <a:br/>
            <a:r>
              <a:t>  file          = uploaded document</a:t>
            </a:r>
            <a:br/>
            <a:r>
              <a:t>  document_type = invoice | balance_sheet | profit_and_loss | cash_flow_statement</a:t>
            </a:r>
            <a:br/>
            <a:br/>
            <a:r>
              <a:t>Processing is synchronous for this assignment and the result is persisted.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5F87"/>
                </a:solidFill>
              </a:defRPr>
            </a:pPr>
            <a:r>
              <a:t>Document Intelligence Platform  •  AI Engineer Internship Case Study  •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SECTION 5.2 / 5.3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73152"/>
            <a:ext cx="9235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Structured Response &amp; Error Handling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5349240" cy="5166360"/>
          </a:xfrm>
          <a:prstGeom prst="roundRect">
            <a:avLst/>
          </a:prstGeom>
          <a:solidFill>
            <a:srgbClr val="F0F4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92D46"/>
                </a:solidFill>
              </a:defRPr>
            </a:pPr>
            <a:r>
              <a:t>Successful response contains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55648"/>
            <a:ext cx="489204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document_name + supplied document_type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processing_status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file_validation metadata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extracted_data: fields / line_items / tables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validation: checks / overall_status / issues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processing_metadata: OCR usage, multimodal extraction, timestamps and processing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51560"/>
            <a:ext cx="5349240" cy="5166360"/>
          </a:xfrm>
          <a:prstGeom prst="roundRect">
            <a:avLst/>
          </a:prstGeom>
          <a:solidFill>
            <a:srgbClr val="F0F4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92D46"/>
                </a:solidFill>
              </a:defRPr>
            </a:pPr>
            <a:r>
              <a:t>Controlled errors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755648"/>
            <a:ext cx="489204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HTTP status codes reflect the failure.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Consistent JSON error structure.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Example: GEMINI_QUOTA_EXCEEDED when the configured Gemini API quota is exhausted.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Unsupported/invalid inputs fail gracefully.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No stack traces or secrets exposed to users.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5F87"/>
                </a:solidFill>
              </a:defRPr>
            </a:pPr>
            <a:r>
              <a:t>Document Intelligence Platform  •  AI Engineer Internship Case Study  •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SECTION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73152"/>
            <a:ext cx="9235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Mandatory 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5349240" cy="5166360"/>
          </a:xfrm>
          <a:prstGeom prst="roundRect">
            <a:avLst/>
          </a:prstGeom>
          <a:solidFill>
            <a:srgbClr val="F0F4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92D46"/>
                </a:solidFill>
              </a:defRPr>
            </a:pPr>
            <a:r>
              <a:t>Implemented 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55648"/>
            <a:ext cx="489204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HTML / CSS / Vanilla JavaScript frontend.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Document type selection + PDF/JPG/PNG upload + Process action.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API connection status.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Dashboard/history with document name, type, status, processed time and page count.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Result view with extracted fields, invoice line items, tables and financial validation.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Raw JSON view and visual highlighting for missing values / failed validations.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51560"/>
            <a:ext cx="5349240" cy="5166360"/>
          </a:xfrm>
          <a:prstGeom prst="roundRect">
            <a:avLst/>
          </a:prstGeom>
          <a:solidFill>
            <a:srgbClr val="F0F4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92D46"/>
                </a:solidFill>
              </a:defRPr>
            </a:pPr>
            <a:r>
              <a:t>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755648"/>
            <a:ext cx="489204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Frontend and API are served by the same FastAPI application.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Dashboard is backed by persistent stored results.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Frontend calls the deployed backend/API.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Confidence is not shown because confidence scoring is optional and not part of the current schema.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5F87"/>
                </a:solidFill>
              </a:defRPr>
            </a:pPr>
            <a:r>
              <a:t>Document Intelligence Platform  •  AI Engineer Internship Case Study  •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SECTION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73152"/>
            <a:ext cx="9235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Mandatory Deployment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5349240" cy="5166360"/>
          </a:xfrm>
          <a:prstGeom prst="roundRect">
            <a:avLst/>
          </a:prstGeom>
          <a:solidFill>
            <a:srgbClr val="F0F4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92D46"/>
                </a:solidFill>
              </a:defRPr>
            </a:pPr>
            <a:r>
              <a:t>Live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55648"/>
            <a:ext cx="489204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Frontend: https://document-intelligence-x363.onrender.com/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Backend/API: https://document-intelligence-x363.onrender.com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Swagger: https://document-intelligence-x363.onrender.com/docs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Health: https://document-intelligence-x363.onrender.com/api/v1/health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Public GitHub: https://github.com/c639-afk/document-intelligence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51560"/>
            <a:ext cx="5349240" cy="5166360"/>
          </a:xfrm>
          <a:prstGeom prst="roundRect">
            <a:avLst/>
          </a:prstGeom>
          <a:solidFill>
            <a:srgbClr val="F0F4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92D46"/>
                </a:solidFill>
              </a:defRPr>
            </a:pPr>
            <a:r>
              <a:t>Deployment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755648"/>
            <a:ext cx="489204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Dockerized application.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Render free-tier service.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Same deployed FastAPI service serves frontend + REST API.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Neon PostgreSQL used for deployment persistence.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No API keys or credentials committed to GitHub.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Gemini API is used through its free tier.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5F87"/>
                </a:solidFill>
              </a:defRPr>
            </a:pPr>
            <a:r>
              <a:t>Document Intelligence Platform  •  AI Engineer Internship Case Study  •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SECTION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73152"/>
            <a:ext cx="9235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Repository Structure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188720"/>
            <a:ext cx="10972800" cy="4389120"/>
          </a:xfrm>
          <a:prstGeom prst="roundRect">
            <a:avLst/>
          </a:prstGeom>
          <a:solidFill>
            <a:srgbClr val="F7F7F7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353312"/>
            <a:ext cx="10570464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23282D"/>
                </a:solidFill>
                <a:latin typeface="Courier New"/>
              </a:defRPr>
            </a:pPr>
            <a:r>
              <a:t>document-intelligence/</a:t>
            </a:r>
            <a:br/>
            <a:r>
              <a:t>├── backend/</a:t>
            </a:r>
            <a:br/>
            <a:r>
              <a:t>│   ├── app/</a:t>
            </a:r>
            <a:br/>
            <a:r>
              <a:t>│   │   ├── api/routes/</a:t>
            </a:r>
            <a:br/>
            <a:r>
              <a:t>│   │   ├── core/</a:t>
            </a:r>
            <a:br/>
            <a:r>
              <a:t>│   │   ├── models/</a:t>
            </a:r>
            <a:br/>
            <a:r>
              <a:t>│   │   ├── schemas/</a:t>
            </a:r>
            <a:br/>
            <a:r>
              <a:t>│   │   ├── services/</a:t>
            </a:r>
            <a:br/>
            <a:r>
              <a:t>│   │   └── repositories/</a:t>
            </a:r>
            <a:br/>
            <a:r>
              <a:t>│   ├── tests/</a:t>
            </a:r>
            <a:br/>
            <a:r>
              <a:t>│   └── requirements.txt</a:t>
            </a:r>
            <a:br/>
            <a:r>
              <a:t>├── frontend/</a:t>
            </a:r>
            <a:br/>
            <a:r>
              <a:t>├── docs/</a:t>
            </a:r>
            <a:br/>
            <a:r>
              <a:t>│   ├── architecture.png</a:t>
            </a:r>
            <a:br/>
            <a:r>
              <a:t>│   ├── AI_USAGE.md</a:t>
            </a:r>
            <a:br/>
            <a:r>
              <a:t>│   └── solution_presentation.pdf</a:t>
            </a:r>
            <a:br/>
            <a:r>
              <a:t>├── sample_outputs/</a:t>
            </a:r>
            <a:br/>
            <a:r>
              <a:t>│   ├── invoice_sample.json</a:t>
            </a:r>
            <a:br/>
            <a:r>
              <a:t>│   ├── balance_sheet_sample.json</a:t>
            </a:r>
            <a:br/>
            <a:r>
              <a:t>│   ├── profit_and_loss_sample.json</a:t>
            </a:r>
            <a:br/>
            <a:r>
              <a:t>│   └── cash_flow_sample.json</a:t>
            </a:r>
            <a:br/>
            <a:r>
              <a:t>├── Dockerfile</a:t>
            </a:r>
            <a:br/>
            <a:r>
              <a:t>├── .env.example</a:t>
            </a:r>
            <a:br/>
            <a:r>
              <a:t>├── .gitignore</a:t>
            </a:r>
            <a:br/>
            <a:r>
              <a:t>└── README.md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5F87"/>
                </a:solidFill>
              </a:defRPr>
            </a:pPr>
            <a:r>
              <a:t>Document Intelligence Platform  •  AI Engineer Internship Case Study  •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SECTION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73152"/>
            <a:ext cx="9235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Technical Expectations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5349240" cy="5166360"/>
          </a:xfrm>
          <a:prstGeom prst="roundRect">
            <a:avLst/>
          </a:prstGeom>
          <a:solidFill>
            <a:srgbClr val="F0F4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92D46"/>
                </a:solidFill>
              </a:defRPr>
            </a:pPr>
            <a:r>
              <a:t>Engineering choices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55648"/>
            <a:ext cx="489204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Modular separation of validation, OCR/parsing, AI extraction, financial validation, persistence and API.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Pydantic structured outputs enforce a fixed common schema.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SQLAlchemy abstracts persistence.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Decimal arithmetic provides deterministic financial calculations.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Environment variables hold configuration and secrets.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51560"/>
            <a:ext cx="5349240" cy="5166360"/>
          </a:xfrm>
          <a:prstGeom prst="roundRect">
            <a:avLst/>
          </a:prstGeom>
          <a:solidFill>
            <a:srgbClr val="F0F4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92D46"/>
                </a:solidFill>
              </a:defRPr>
            </a:pPr>
            <a:r>
              <a:t>Reliability &amp; security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755648"/>
            <a:ext cx="489204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Controlled exceptions for invalid files and downstream failures.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Upload validation before processing.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No hardcoded document outputs or expected validation answers.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Structured error responses.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Processing metadata retained for troubleshooting.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Production hardening includes stronger observability, rate limiting and operational controls.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5F87"/>
                </a:solidFill>
              </a:defRPr>
            </a:pPr>
            <a:r>
              <a:t>Document Intelligence Platform  •  AI Engineer Internship Case Study  •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SECTION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73152"/>
            <a:ext cx="9235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Non-Functional Requirements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972800" cy="5074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</a:defRPr>
            </a:pPr>
            <a:r>
              <a:t>Reliability — malformed/unsupported documents and downstream failures return controlled errors rather than crashing the service.</a:t>
            </a:r>
          </a:p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</a:defRPr>
            </a:pPr>
            <a:r>
              <a:t>Security — no embedded secrets; uploads are validated and environment variables are used for credentials.</a:t>
            </a:r>
          </a:p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</a:defRPr>
            </a:pPr>
            <a:r>
              <a:t>Maintainability — responsibilities are separated into services, repositories, schemas, routes and models.</a:t>
            </a:r>
          </a:p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</a:defRPr>
            </a:pPr>
            <a:r>
              <a:t>Observability — processing metadata, OCR/model status and structured errors support troubleshooting; logging hardening remains a final cleanup item.</a:t>
            </a:r>
          </a:p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</a:defRPr>
            </a:pPr>
            <a:r>
              <a:t>Usability — dashboard makes processed documents, extracted values, tables and validation results easy to inspect.</a:t>
            </a:r>
          </a:p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</a:defRPr>
            </a:pPr>
            <a:r>
              <a:t>Performance — synchronous processing is acceptable for the 3-page assessment scope; processing time is recorded.</a:t>
            </a:r>
          </a:p>
          <a:p>
            <a:pPr>
              <a:spcAft>
                <a:spcPts val="800"/>
              </a:spcAft>
              <a:defRPr sz="1700" b="0">
                <a:solidFill>
                  <a:srgbClr val="23282D"/>
                </a:solidFill>
              </a:defRPr>
            </a:pPr>
            <a:r>
              <a:t>Persistence — processed metadata and complete result JSON are stored and surfaced through the dashboard.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5F87"/>
                </a:solidFill>
              </a:defRPr>
            </a:pPr>
            <a:r>
              <a:t>Document Intelligence Platform  •  AI Engineer Internship Case Study  •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SECTION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73152"/>
            <a:ext cx="9235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Testing Requirements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5349240" cy="5166360"/>
          </a:xfrm>
          <a:prstGeom prst="roundRect">
            <a:avLst/>
          </a:prstGeom>
          <a:solidFill>
            <a:srgbClr val="F0F4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92D46"/>
                </a:solidFill>
              </a:defRPr>
            </a:pPr>
            <a:r>
              <a:t>Automated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55648"/>
            <a:ext cx="489204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File validation tests.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Financial validation tests.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API flow tests.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Current local suite: 24 tests passing.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SQLite is used for local test isolation.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51560"/>
            <a:ext cx="5349240" cy="5166360"/>
          </a:xfrm>
          <a:prstGeom prst="roundRect">
            <a:avLst/>
          </a:prstGeom>
          <a:solidFill>
            <a:srgbClr val="F0F4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92D46"/>
                </a:solidFill>
              </a:defRPr>
            </a:pPr>
            <a:r>
              <a:t>Required test scenarios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755648"/>
            <a:ext cx="489204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All four supported document types.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At least one scanned/image-based document.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Financial validation failure or missing/unreadable value.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Unsupported/invalid file.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Sample JSON outputs with validation calculations.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Live deployed verification remains dependent on Gemini quota availability.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5F87"/>
                </a:solidFill>
              </a:defRPr>
            </a:pPr>
            <a:r>
              <a:t>Document Intelligence Platform  •  AI Engineer Internship Case Study  • 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SECTION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73152"/>
            <a:ext cx="9235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Candidate Deliverables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972800" cy="5074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3282D"/>
                </a:solidFill>
              </a:defRPr>
            </a:pPr>
            <a:r>
              <a:t>Public GitHub repository — complete source code.</a:t>
            </a:r>
          </a:p>
          <a:p>
            <a:pPr>
              <a:spcAft>
                <a:spcPts val="800"/>
              </a:spcAft>
              <a:defRPr sz="1900" b="0">
                <a:solidFill>
                  <a:srgbClr val="23282D"/>
                </a:solidFill>
              </a:defRPr>
            </a:pPr>
            <a:r>
              <a:t>Live frontend URL and live backend/API URL.</a:t>
            </a:r>
          </a:p>
          <a:p>
            <a:pPr>
              <a:spcAft>
                <a:spcPts val="800"/>
              </a:spcAft>
              <a:defRPr sz="1900" b="0">
                <a:solidFill>
                  <a:srgbClr val="23282D"/>
                </a:solidFill>
              </a:defRPr>
            </a:pPr>
            <a:r>
              <a:t>Swagger/OpenAPI documentation and health endpoint.</a:t>
            </a:r>
          </a:p>
          <a:p>
            <a:pPr>
              <a:spcAft>
                <a:spcPts val="800"/>
              </a:spcAft>
              <a:defRPr sz="1900" b="0">
                <a:solidFill>
                  <a:srgbClr val="23282D"/>
                </a:solidFill>
              </a:defRPr>
            </a:pPr>
            <a:r>
              <a:t>README with setup, architecture, API, persistence, deployment, limitations and production notes.</a:t>
            </a:r>
          </a:p>
          <a:p>
            <a:pPr>
              <a:spcAft>
                <a:spcPts val="800"/>
              </a:spcAft>
              <a:defRPr sz="1900" b="0">
                <a:solidFill>
                  <a:srgbClr val="23282D"/>
                </a:solidFill>
              </a:defRPr>
            </a:pPr>
            <a:r>
              <a:t>Architecture diagram.</a:t>
            </a:r>
          </a:p>
          <a:p>
            <a:pPr>
              <a:spcAft>
                <a:spcPts val="800"/>
              </a:spcAft>
              <a:defRPr sz="1900" b="0">
                <a:solidFill>
                  <a:srgbClr val="23282D"/>
                </a:solidFill>
              </a:defRPr>
            </a:pPr>
            <a:r>
              <a:t>Sample JSON outputs for all four document types.</a:t>
            </a:r>
          </a:p>
          <a:p>
            <a:pPr>
              <a:spcAft>
                <a:spcPts val="800"/>
              </a:spcAft>
              <a:defRPr sz="1900" b="0">
                <a:solidFill>
                  <a:srgbClr val="23282D"/>
                </a:solidFill>
              </a:defRPr>
            </a:pPr>
            <a:r>
              <a:t>AI/tool usage declaration.</a:t>
            </a:r>
          </a:p>
          <a:p>
            <a:pPr>
              <a:spcAft>
                <a:spcPts val="800"/>
              </a:spcAft>
              <a:defRPr sz="1900" b="0">
                <a:solidFill>
                  <a:srgbClr val="23282D"/>
                </a:solidFill>
              </a:defRPr>
            </a:pPr>
            <a:r>
              <a:t>Solution Presentation PDF.</a:t>
            </a:r>
          </a:p>
          <a:p>
            <a:pPr>
              <a:spcAft>
                <a:spcPts val="800"/>
              </a:spcAft>
              <a:defRPr sz="1900" b="0">
                <a:solidFill>
                  <a:srgbClr val="23282D"/>
                </a:solidFill>
              </a:defRPr>
            </a:pPr>
            <a:r>
              <a:t>Known limitations and production-improvement notes.</a:t>
            </a:r>
          </a:p>
          <a:p>
            <a:pPr>
              <a:spcAft>
                <a:spcPts val="800"/>
              </a:spcAft>
              <a:defRPr sz="1900" b="0">
                <a:solidFill>
                  <a:srgbClr val="23282D"/>
                </a:solidFill>
              </a:defRPr>
            </a:pPr>
            <a:r>
              <a:t>Short demo / walkthrough during the interview.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5F87"/>
                </a:solidFill>
              </a:defRPr>
            </a:pPr>
            <a:r>
              <a:t>Document Intelligence Platform  •  AI Engineer Internship Case Study  •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SECTION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73152"/>
            <a:ext cx="9235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README Coverage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5349240" cy="5166360"/>
          </a:xfrm>
          <a:prstGeom prst="roundRect">
            <a:avLst/>
          </a:prstGeom>
          <a:solidFill>
            <a:srgbClr val="F0F4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92D46"/>
                </a:solidFill>
              </a:defRPr>
            </a:pPr>
            <a:r>
              <a:t>Documented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55648"/>
            <a:ext cx="489204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Technology stack and reasons for major choices.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Local setup and environment variables.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Live deployment URLs.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API request examples.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OCR/document parsing and Gemini model/free-tier usage.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Financial validation rules and tolerance.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Database/persistence approach.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Known limitations.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51560"/>
            <a:ext cx="5349240" cy="5166360"/>
          </a:xfrm>
          <a:prstGeom prst="roundRect">
            <a:avLst/>
          </a:prstGeom>
          <a:solidFill>
            <a:srgbClr val="F0F4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92D46"/>
                </a:solidFill>
              </a:defRPr>
            </a:pPr>
            <a:r>
              <a:t>Also covered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755648"/>
            <a:ext cx="489204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Production deployment improvements.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AI coding assistant usage.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Architecture overview.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Project structure.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Testing instructions.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Security / secrets handling.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Error handling and API behavior.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Submission checklist.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5F87"/>
                </a:solidFill>
              </a:defRPr>
            </a:pPr>
            <a:r>
              <a:t>Document Intelligence Platform  •  AI Engineer Internship Case Study  • 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SECTION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73152"/>
            <a:ext cx="9235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AI / Tool Usage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5349240" cy="5166360"/>
          </a:xfrm>
          <a:prstGeom prst="roundRect">
            <a:avLst/>
          </a:prstGeom>
          <a:solidFill>
            <a:srgbClr val="F0F4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92D46"/>
                </a:solidFill>
              </a:defRPr>
            </a:pPr>
            <a:r>
              <a:t>AI &amp; document 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55648"/>
            <a:ext cx="489204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Google Gemini API — multimodal financial document extraction.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Gemini API is used through the free tier.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Tesseract — local OCR for images/scanned PDFs.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pypdf — native PDF text extraction.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pdf2image + Pillow — PDF page/image handling.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51560"/>
            <a:ext cx="5349240" cy="5166360"/>
          </a:xfrm>
          <a:prstGeom prst="roundRect">
            <a:avLst/>
          </a:prstGeom>
          <a:solidFill>
            <a:srgbClr val="F0F4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92D46"/>
                </a:solidFill>
              </a:defRPr>
            </a:pPr>
            <a:r>
              <a:t>AI-assisted development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755648"/>
            <a:ext cx="489204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ChatGPT was used for requirement review, architecture planning, debugging assistance, validation review and documentation.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AI assistance was declared in docs/AI_USAGE.md.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Financial validation is deterministic and independent of the LLM.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Missing required validation inputs are not invented; they become NOT_APPLICABLE.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5F87"/>
                </a:solidFill>
              </a:defRPr>
            </a:pPr>
            <a:r>
              <a:t>Document Intelligence Platform  •  AI Engineer Internship Case Study  • 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SECTION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73152"/>
            <a:ext cx="9235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Evaluation &amp; Completion Status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051560"/>
            <a:ext cx="5349240" cy="5166360"/>
          </a:xfrm>
          <a:prstGeom prst="roundRect">
            <a:avLst/>
          </a:prstGeom>
          <a:solidFill>
            <a:srgbClr val="F0F4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92D46"/>
                </a:solidFill>
              </a:defRPr>
            </a:pPr>
            <a:r>
              <a:t>High-weight areas addressed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55648"/>
            <a:ext cx="489204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End-to-end deployed solution.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Extraction across four financial document types.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REST API + Swagger.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Frontend dashboard + database persistence.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Deterministic financial validation.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Testing + public GitHub + documentation.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051560"/>
            <a:ext cx="5349240" cy="5166360"/>
          </a:xfrm>
          <a:prstGeom prst="roundRect">
            <a:avLst/>
          </a:prstGeom>
          <a:solidFill>
            <a:srgbClr val="F0F4F8"/>
          </a:solidFill>
          <a:ln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261872"/>
            <a:ext cx="4892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92D46"/>
                </a:solidFill>
              </a:defRPr>
            </a:pPr>
            <a:r>
              <a:t>Final submission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755648"/>
            <a:ext cx="4892040" cy="411480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Run final live extraction tests after Gemini free-tier quota reset.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Verify all four supplied documents through the deployed API.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Verify scanned/image processing and failure scenarios.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Complete final logging hardening if required.</a:t>
            </a:r>
          </a:p>
          <a:p>
            <a:pPr>
              <a:spcAft>
                <a:spcPts val="800"/>
              </a:spcAft>
              <a:defRPr sz="1600" b="0">
                <a:solidFill>
                  <a:srgbClr val="23282D"/>
                </a:solidFill>
              </a:defRPr>
            </a:pPr>
            <a:r>
              <a:t>Push final presentation and documentation changes to public GitHub.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5F87"/>
                </a:solidFill>
              </a:defRPr>
            </a:pPr>
            <a:r>
              <a:t>Document Intelligence Platform  •  AI Engineer Internship Case Study  • 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192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92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31720" y="73152"/>
            <a:ext cx="9235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Working Prototype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0972800" cy="5074920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23282D"/>
                </a:solidFill>
              </a:defRPr>
            </a:pPr>
            <a:r>
              <a:t>The platform converts heterogeneous financial documents into consistent structured JSON.</a:t>
            </a:r>
          </a:p>
          <a:p>
            <a:pPr>
              <a:spcAft>
                <a:spcPts val="800"/>
              </a:spcAft>
              <a:defRPr sz="2000" b="0">
                <a:solidFill>
                  <a:srgbClr val="23282D"/>
                </a:solidFill>
              </a:defRPr>
            </a:pPr>
            <a:r>
              <a:t>OCR/native extraction handles both digital and scanned inputs.</a:t>
            </a:r>
          </a:p>
          <a:p>
            <a:pPr>
              <a:spcAft>
                <a:spcPts val="800"/>
              </a:spcAft>
              <a:defRPr sz="2000" b="0">
                <a:solidFill>
                  <a:srgbClr val="23282D"/>
                </a:solidFill>
              </a:defRPr>
            </a:pPr>
            <a:r>
              <a:t>Gemini performs multimodal field and table extraction while deterministic code performs financial validation.</a:t>
            </a:r>
          </a:p>
          <a:p>
            <a:pPr>
              <a:spcAft>
                <a:spcPts val="800"/>
              </a:spcAft>
              <a:defRPr sz="2000" b="0">
                <a:solidFill>
                  <a:srgbClr val="23282D"/>
                </a:solidFill>
              </a:defRPr>
            </a:pPr>
            <a:r>
              <a:t>Results are persisted in PostgreSQL and exposed through REST APIs and a dashboard.</a:t>
            </a:r>
          </a:p>
          <a:p>
            <a:pPr>
              <a:spcAft>
                <a:spcPts val="800"/>
              </a:spcAft>
              <a:defRPr sz="2000" b="0">
                <a:solidFill>
                  <a:srgbClr val="23282D"/>
                </a:solidFill>
              </a:defRPr>
            </a:pPr>
            <a:r>
              <a:t>The design follows the case-study flow and keeps extraction, validation, persistence and API concerns separated.</a:t>
            </a:r>
          </a:p>
          <a:p>
            <a:pPr>
              <a:spcAft>
                <a:spcPts val="800"/>
              </a:spcAft>
              <a:defRPr sz="2000" b="0">
                <a:solidFill>
                  <a:srgbClr val="23282D"/>
                </a:solidFill>
              </a:defRPr>
            </a:pPr>
            <a:r>
              <a:t>Primary remaining step before final submission: complete live verification across the four documents after the Gemini free-tier quota resets.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375F87"/>
                </a:solidFill>
              </a:defRPr>
            </a:pPr>
            <a:r>
              <a:t>Document Intelligence Platform  •  AI Engineer Internship Case Study  • 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